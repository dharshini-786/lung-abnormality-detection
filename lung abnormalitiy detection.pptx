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300" r:id="rId2"/>
    <p:sldId id="290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29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26" autoAdjust="0"/>
    <p:restoredTop sz="76840" autoAdjust="0"/>
  </p:normalViewPr>
  <p:slideViewPr>
    <p:cSldViewPr snapToGrid="0">
      <p:cViewPr>
        <p:scale>
          <a:sx n="65" d="100"/>
          <a:sy n="65" d="100"/>
        </p:scale>
        <p:origin x="113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92269-FFC4-4F58-8BA0-2BC373F7D4BB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175A61-CDF1-4CFA-83CD-632BAA6738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520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175A61-CDF1-4CFA-83CD-632BAA67387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078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175A61-CDF1-4CFA-83CD-632BAA67387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220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812D483-46BF-4978-9FF5-3D1764EC8711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E4AE491-15AA-4CF6-917A-08E8B96AD111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913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D483-46BF-4978-9FF5-3D1764EC8711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AE491-15AA-4CF6-917A-08E8B96AD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891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D483-46BF-4978-9FF5-3D1764EC8711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AE491-15AA-4CF6-917A-08E8B96AD111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154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D483-46BF-4978-9FF5-3D1764EC8711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AE491-15AA-4CF6-917A-08E8B96AD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240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D483-46BF-4978-9FF5-3D1764EC8711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AE491-15AA-4CF6-917A-08E8B96AD111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8900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D483-46BF-4978-9FF5-3D1764EC8711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AE491-15AA-4CF6-917A-08E8B96AD111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0729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D483-46BF-4978-9FF5-3D1764EC8711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AE491-15AA-4CF6-917A-08E8B96AD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425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D483-46BF-4978-9FF5-3D1764EC8711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AE491-15AA-4CF6-917A-08E8B96AD111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9446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D483-46BF-4978-9FF5-3D1764EC8711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AE491-15AA-4CF6-917A-08E8B96AD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90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D483-46BF-4978-9FF5-3D1764EC8711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AE491-15AA-4CF6-917A-08E8B96AD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452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D483-46BF-4978-9FF5-3D1764EC8711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AE491-15AA-4CF6-917A-08E8B96AD111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629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D483-46BF-4978-9FF5-3D1764EC8711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AE491-15AA-4CF6-917A-08E8B96AD111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6186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D483-46BF-4978-9FF5-3D1764EC8711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AE491-15AA-4CF6-917A-08E8B96AD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34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D483-46BF-4978-9FF5-3D1764EC8711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AE491-15AA-4CF6-917A-08E8B96AD111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650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D483-46BF-4978-9FF5-3D1764EC8711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AE491-15AA-4CF6-917A-08E8B96AD111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6993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D483-46BF-4978-9FF5-3D1764EC8711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AE491-15AA-4CF6-917A-08E8B96AD111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6163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D483-46BF-4978-9FF5-3D1764EC8711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AE491-15AA-4CF6-917A-08E8B96AD111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1808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image" Target="../media/image4.png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3.pn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812D483-46BF-4978-9FF5-3D1764EC8711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E4AE491-15AA-4CF6-917A-08E8B96AD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145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655" y="672057"/>
            <a:ext cx="7781846" cy="16592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3AC21E-6C5D-2796-406D-26B7A64DFE11}"/>
              </a:ext>
            </a:extLst>
          </p:cNvPr>
          <p:cNvSpPr txBox="1"/>
          <p:nvPr/>
        </p:nvSpPr>
        <p:spPr>
          <a:xfrm>
            <a:off x="1289047" y="4246347"/>
            <a:ext cx="9824591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pPr algn="l"/>
            <a:r>
              <a:rPr lang="en-US" b="1" dirty="0"/>
              <a:t>GUIDED BY,</a:t>
            </a:r>
            <a:r>
              <a:rPr lang="en-US" sz="2000" b="1" dirty="0"/>
              <a:t>                                          			  		  </a:t>
            </a:r>
            <a:r>
              <a:rPr lang="en-US" b="1" dirty="0"/>
              <a:t>PRESENTED BY,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MS.D. NITHYA.AP/CSE        </a:t>
            </a:r>
            <a:r>
              <a:rPr lang="en-US" dirty="0"/>
              <a:t>			         			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GOWTHAMI.M (611723104031)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		 DHARSHINI.S (611723104022)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         					 KAVIYA.N (611723104045)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		 DHARANI.D (611723104020)  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		 PRIYADHARSHINI.G (611723104075) 			</a:t>
            </a:r>
          </a:p>
          <a:p>
            <a:pPr algn="l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	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CC4975-41DE-C511-E9C1-632C2D956874}"/>
              </a:ext>
            </a:extLst>
          </p:cNvPr>
          <p:cNvSpPr txBox="1"/>
          <p:nvPr/>
        </p:nvSpPr>
        <p:spPr>
          <a:xfrm>
            <a:off x="3052068" y="2329624"/>
            <a:ext cx="72994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903DC3-EE39-AB3F-C755-31F89A4A1784}"/>
              </a:ext>
            </a:extLst>
          </p:cNvPr>
          <p:cNvSpPr txBox="1"/>
          <p:nvPr/>
        </p:nvSpPr>
        <p:spPr>
          <a:xfrm>
            <a:off x="1599383" y="3287985"/>
            <a:ext cx="95142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NOVEL EXPLAINABLE AI FRAMEWORK FOR EARLY LUNG ABNORMALITY DETECTION    	FROM CHEST COMPUTERIZED TOMOGRAPHY SCAN (CT) AND X-RAY IMAGING</a:t>
            </a:r>
          </a:p>
        </p:txBody>
      </p:sp>
    </p:spTree>
    <p:extLst>
      <p:ext uri="{BB962C8B-B14F-4D97-AF65-F5344CB8AC3E}">
        <p14:creationId xmlns:p14="http://schemas.microsoft.com/office/powerpoint/2010/main" val="811795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1163B0-53A5-2776-D536-4FE3A0FB2C78}"/>
              </a:ext>
            </a:extLst>
          </p:cNvPr>
          <p:cNvSpPr txBox="1"/>
          <p:nvPr/>
        </p:nvSpPr>
        <p:spPr>
          <a:xfrm>
            <a:off x="2936631" y="2062857"/>
            <a:ext cx="6318738" cy="2732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Lung diseases like pneumonia, tuberculosis, and cancer require early detection.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Traditional diagnosis methods are time-consuming and rely heavily on expert interpretation.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Artificial Intelligence (AI) can automate and accelerate diagnosis.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Explainable AI (XAI) adds transparency and trust to AI decisions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280A3F-8069-45A6-E251-4D71701820EC}"/>
              </a:ext>
            </a:extLst>
          </p:cNvPr>
          <p:cNvSpPr txBox="1"/>
          <p:nvPr/>
        </p:nvSpPr>
        <p:spPr>
          <a:xfrm>
            <a:off x="1606062" y="1082672"/>
            <a:ext cx="6096000" cy="522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u="sng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INTRODUCTION</a:t>
            </a:r>
            <a:endParaRPr lang="en-IN" sz="2800" u="sng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2462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C2B783-91A3-8349-BE02-B0A0F41CA7E0}"/>
              </a:ext>
            </a:extLst>
          </p:cNvPr>
          <p:cNvSpPr txBox="1"/>
          <p:nvPr/>
        </p:nvSpPr>
        <p:spPr>
          <a:xfrm>
            <a:off x="2649415" y="2545085"/>
            <a:ext cx="6893170" cy="192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Develop an AI model to detect lung abnormalities from CT and X-ray images.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Integrate explainability tools to visualize and justify predictions.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Improve diagnostic accuracy, speed, and clinical trust.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437A94-C0EE-4730-791E-5E98DAF5C18E}"/>
              </a:ext>
            </a:extLst>
          </p:cNvPr>
          <p:cNvSpPr txBox="1"/>
          <p:nvPr/>
        </p:nvSpPr>
        <p:spPr>
          <a:xfrm>
            <a:off x="1477108" y="1533054"/>
            <a:ext cx="6096000" cy="522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u="sng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OBJECTIVES</a:t>
            </a:r>
            <a:endParaRPr lang="en-IN" sz="2800" u="sng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89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67BC86B-0653-9F87-735A-7D4011DD979E}"/>
              </a:ext>
            </a:extLst>
          </p:cNvPr>
          <p:cNvSpPr txBox="1"/>
          <p:nvPr/>
        </p:nvSpPr>
        <p:spPr>
          <a:xfrm>
            <a:off x="3048000" y="2196740"/>
            <a:ext cx="6096000" cy="2251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IN" sz="20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Sources</a:t>
            </a:r>
            <a:r>
              <a:rPr lang="en-IN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NIH Chest X-ray dataset, LIDC-IDRI CT scan dataset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IN" sz="20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Preprocessing</a:t>
            </a:r>
            <a:r>
              <a:rPr lang="en-IN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Image resizing, normalization, noise reduction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IN" sz="20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Annotation</a:t>
            </a:r>
            <a:r>
              <a:rPr lang="en-IN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Expert-</a:t>
            </a:r>
            <a:r>
              <a:rPr lang="en-IN" sz="20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labeled</a:t>
            </a:r>
            <a:r>
              <a:rPr lang="en-IN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regions of interest for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425913-8EB5-E66D-C7BF-612BD7C2F9F9}"/>
              </a:ext>
            </a:extLst>
          </p:cNvPr>
          <p:cNvSpPr txBox="1"/>
          <p:nvPr/>
        </p:nvSpPr>
        <p:spPr>
          <a:xfrm>
            <a:off x="1383323" y="1462715"/>
            <a:ext cx="6096000" cy="522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u="sng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DATASET USED</a:t>
            </a:r>
            <a:endParaRPr lang="en-IN" sz="2800" u="sng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496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3AD8A8-FB0E-26D1-D0B5-EA4D10ED5BB3}"/>
              </a:ext>
            </a:extLst>
          </p:cNvPr>
          <p:cNvSpPr txBox="1"/>
          <p:nvPr/>
        </p:nvSpPr>
        <p:spPr>
          <a:xfrm>
            <a:off x="2895599" y="2201644"/>
            <a:ext cx="6342185" cy="2683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Deep Learning using Convolutional Neural Networks (CNNs)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Transfer Learning with pretrained models (e.g., </a:t>
            </a:r>
            <a:r>
              <a:rPr lang="en-IN" sz="20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ResNet</a:t>
            </a:r>
            <a:r>
              <a:rPr lang="en-IN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DenseNet</a:t>
            </a:r>
            <a:r>
              <a:rPr lang="en-IN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Dual input pipeline for CT and X-ray images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Output: Classification (Normal / Abnormal) + Visual explanation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2665F9-D576-8F1B-3295-797DB64C75E9}"/>
              </a:ext>
            </a:extLst>
          </p:cNvPr>
          <p:cNvSpPr txBox="1"/>
          <p:nvPr/>
        </p:nvSpPr>
        <p:spPr>
          <a:xfrm>
            <a:off x="1266093" y="1475003"/>
            <a:ext cx="6096000" cy="522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u="sng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AI Model Architecture</a:t>
            </a:r>
            <a:endParaRPr lang="en-IN" sz="2800" u="sng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3741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989786-AAC4-671F-C131-03C03062F51E}"/>
              </a:ext>
            </a:extLst>
          </p:cNvPr>
          <p:cNvSpPr txBox="1"/>
          <p:nvPr/>
        </p:nvSpPr>
        <p:spPr>
          <a:xfrm>
            <a:off x="2567353" y="2504640"/>
            <a:ext cx="6403732" cy="192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IN" sz="20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Grad-CAM</a:t>
            </a:r>
            <a:r>
              <a:rPr lang="en-IN" sz="2000" b="1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- </a:t>
            </a:r>
            <a:r>
              <a:rPr lang="en-IN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Highlights image regions influencing prediction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IN" sz="20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LIME</a:t>
            </a:r>
            <a:r>
              <a:rPr lang="en-IN" sz="2000" b="1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-</a:t>
            </a:r>
            <a:r>
              <a:rPr lang="en-IN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Local Interpretable Model-Agnostic Explanations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IN" sz="20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SHAP</a:t>
            </a:r>
            <a:r>
              <a:rPr lang="en-IN" sz="2000" b="1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- </a:t>
            </a:r>
            <a:r>
              <a:rPr lang="en-IN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Shows feature importance and contribution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2CAF2C-B3B4-E06C-AD53-70D5EDF7E248}"/>
              </a:ext>
            </a:extLst>
          </p:cNvPr>
          <p:cNvSpPr txBox="1"/>
          <p:nvPr/>
        </p:nvSpPr>
        <p:spPr>
          <a:xfrm>
            <a:off x="1254368" y="1415823"/>
            <a:ext cx="6096000" cy="522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u="sng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EXPLAINABLE AI TECHNIQUES</a:t>
            </a:r>
            <a:endParaRPr lang="en-IN" sz="2800" u="sng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D3A8DC-412D-4298-07BD-D2D6005CA2C3}"/>
              </a:ext>
            </a:extLst>
          </p:cNvPr>
          <p:cNvSpPr txBox="1"/>
          <p:nvPr/>
        </p:nvSpPr>
        <p:spPr>
          <a:xfrm>
            <a:off x="2712427" y="4820416"/>
            <a:ext cx="6113584" cy="36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Helps radiologists understand and verify AI decisions</a:t>
            </a:r>
          </a:p>
        </p:txBody>
      </p:sp>
    </p:spTree>
    <p:extLst>
      <p:ext uri="{BB962C8B-B14F-4D97-AF65-F5344CB8AC3E}">
        <p14:creationId xmlns:p14="http://schemas.microsoft.com/office/powerpoint/2010/main" val="162797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0CDC64-D5F3-B290-0C6A-5152363FC2D4}"/>
              </a:ext>
            </a:extLst>
          </p:cNvPr>
          <p:cNvSpPr txBox="1"/>
          <p:nvPr/>
        </p:nvSpPr>
        <p:spPr>
          <a:xfrm>
            <a:off x="3048000" y="2441807"/>
            <a:ext cx="6096000" cy="16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Accuracy: Up to 97%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Precision, Recall, F1-score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ROC Curve and AUC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Compared with traditional ML models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10DC6-3E4B-9769-71EF-9C28B320B059}"/>
              </a:ext>
            </a:extLst>
          </p:cNvPr>
          <p:cNvSpPr txBox="1"/>
          <p:nvPr/>
        </p:nvSpPr>
        <p:spPr>
          <a:xfrm>
            <a:off x="1172308" y="1286869"/>
            <a:ext cx="6096000" cy="522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u="sng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PERFORMANCE METRICS</a:t>
            </a:r>
            <a:endParaRPr lang="en-IN" sz="2800" u="sng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459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D7460A-E99E-F860-F73B-21D0794D3252}"/>
              </a:ext>
            </a:extLst>
          </p:cNvPr>
          <p:cNvSpPr txBox="1"/>
          <p:nvPr/>
        </p:nvSpPr>
        <p:spPr>
          <a:xfrm>
            <a:off x="3048000" y="2441807"/>
            <a:ext cx="6096000" cy="16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Enables early diagnosis and treatment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Reduces radiologist workload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Useful in remote or resource-limited settings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Builds trust through transparent AI decisions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0E2907-8407-6524-B1DA-3D6B58AE64E8}"/>
              </a:ext>
            </a:extLst>
          </p:cNvPr>
          <p:cNvSpPr txBox="1"/>
          <p:nvPr/>
        </p:nvSpPr>
        <p:spPr>
          <a:xfrm>
            <a:off x="1441939" y="1322039"/>
            <a:ext cx="6096000" cy="522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u="sng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CLINICAL RELEVANCE</a:t>
            </a:r>
            <a:endParaRPr lang="en-IN" sz="2800" u="sng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377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476A7E-FEAB-20BC-9348-303389B91606}"/>
              </a:ext>
            </a:extLst>
          </p:cNvPr>
          <p:cNvSpPr txBox="1"/>
          <p:nvPr/>
        </p:nvSpPr>
        <p:spPr>
          <a:xfrm>
            <a:off x="3048000" y="2441807"/>
            <a:ext cx="6096000" cy="16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Requires larger and more diverse datasets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Integration with hospital systems and PACS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Real-time deployment and mobile compatibility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Extendable to other organs and diseases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610EE6-54DA-25F0-3526-A6C1D83DB097}"/>
              </a:ext>
            </a:extLst>
          </p:cNvPr>
          <p:cNvSpPr txBox="1"/>
          <p:nvPr/>
        </p:nvSpPr>
        <p:spPr>
          <a:xfrm>
            <a:off x="1066799" y="1322039"/>
            <a:ext cx="6096000" cy="522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u="sng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LIMITATIONS &amp; FUTURE SCOPE</a:t>
            </a:r>
            <a:endParaRPr lang="en-IN" sz="2800" u="sng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288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8A793F-64D0-15EC-A799-F147B01E5B9E}"/>
              </a:ext>
            </a:extLst>
          </p:cNvPr>
          <p:cNvSpPr txBox="1"/>
          <p:nvPr/>
        </p:nvSpPr>
        <p:spPr>
          <a:xfrm>
            <a:off x="3047999" y="2493103"/>
            <a:ext cx="6365631" cy="15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Combines deep learning with explainability for better healthcare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Supports early detection and informed decision-making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 step toward trustworthy AI in medical imaging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BCF58D-7CB4-4A86-82DB-D034A7A1F4FD}"/>
              </a:ext>
            </a:extLst>
          </p:cNvPr>
          <p:cNvSpPr txBox="1"/>
          <p:nvPr/>
        </p:nvSpPr>
        <p:spPr>
          <a:xfrm>
            <a:off x="2485292" y="1680549"/>
            <a:ext cx="6096000" cy="522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CONCLUSION</a:t>
            </a:r>
            <a:endParaRPr lang="en-IN" sz="28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8734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BC2196-061D-E9F4-CCC1-5E8F18AC0790}"/>
              </a:ext>
            </a:extLst>
          </p:cNvPr>
          <p:cNvSpPr txBox="1"/>
          <p:nvPr/>
        </p:nvSpPr>
        <p:spPr>
          <a:xfrm>
            <a:off x="2435469" y="2228671"/>
            <a:ext cx="61135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YOU!...</a:t>
            </a:r>
            <a:endParaRPr lang="en-IN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745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391</TotalTime>
  <Words>447</Words>
  <Application>Microsoft Office PowerPoint</Application>
  <PresentationFormat>Widescreen</PresentationFormat>
  <Paragraphs>57</Paragraphs>
  <Slides>11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CONTENTS</dc:title>
  <dc:creator>KARTHICK</dc:creator>
  <cp:lastModifiedBy>Dharshini Dharshini</cp:lastModifiedBy>
  <cp:revision>40</cp:revision>
  <dcterms:created xsi:type="dcterms:W3CDTF">2025-03-18T23:48:10Z</dcterms:created>
  <dcterms:modified xsi:type="dcterms:W3CDTF">2025-12-28T06:21:04Z</dcterms:modified>
</cp:coreProperties>
</file>